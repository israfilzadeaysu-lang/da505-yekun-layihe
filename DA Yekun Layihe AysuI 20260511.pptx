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Pasiyent sayı</c:v>
                </c:pt>
              </c:strCache>
            </c:strRef>
          </c:tx>
          <c:spPr>
            <a:solidFill>
              <a:srgbClr val="E07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7B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DB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Qadın (F)</c:v>
                  </c:pt>
                  <c:pt idx="1">
                    <c:v>Kişi (M)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67000</c:v>
                </c:pt>
                <c:pt idx="1">
                  <c:v>65607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Pasiyent sayı</c:v>
                </c:pt>
              </c:strCache>
            </c:strRef>
          </c:tx>
          <c:spPr>
            <a:solidFill>
              <a:srgbClr val="0D7C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5A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Uşaq
(0-17)</c:v>
                  </c:pt>
                  <c:pt idx="1">
                    <c:v>Gənc
(18-34)</c:v>
                  </c:pt>
                  <c:pt idx="2">
                    <c:v>Orta yaş
(35-54)</c:v>
                  </c:pt>
                  <c:pt idx="3">
                    <c:v>Böyük yaş
(55-69)</c:v>
                  </c:pt>
                  <c:pt idx="4">
                    <c:v>Yaşlı
(70+)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8200</c:v>
                </c:pt>
                <c:pt idx="1">
                  <c:v>22400</c:v>
                </c:pt>
                <c:pt idx="2">
                  <c:v>38600</c:v>
                </c:pt>
                <c:pt idx="3">
                  <c:v>32100</c:v>
                </c:pt>
                <c:pt idx="4">
                  <c:v>31307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Say</c:v>
                </c:pt>
              </c:strCache>
            </c:strRef>
          </c:tx>
          <c:spPr>
            <a:solidFill>
              <a:srgbClr val="0D7C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White</c:v>
                  </c:pt>
                  <c:pt idx="1">
                    <c:v>Black</c:v>
                  </c:pt>
                  <c:pt idx="2">
                    <c:v>Asian</c:v>
                  </c:pt>
                  <c:pt idx="3">
                    <c:v>Hispanic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78400</c:v>
                </c:pt>
                <c:pt idx="1">
                  <c:v>22100</c:v>
                </c:pt>
                <c:pt idx="2">
                  <c:v>12500</c:v>
                </c:pt>
                <c:pt idx="3">
                  <c:v>14200</c:v>
                </c:pt>
                <c:pt idx="4">
                  <c:v>5407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Müraciət sayı</c:v>
                </c:pt>
              </c:strCache>
            </c:strRef>
          </c:tx>
          <c:spPr>
            <a:solidFill>
              <a:srgbClr val="0D7C8F"/>
            </a:solidFill>
            <a:ln w="31750" cap="flat">
              <a:solidFill>
                <a:srgbClr val="0D7C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C8F"/>
              </a:solidFill>
              <a:ln w="9525" cap="flat">
                <a:solidFill>
                  <a:srgbClr val="0D7C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  <c:pt idx="12">
                    <c:v>2023</c:v>
                  </c:pt>
                  <c:pt idx="13">
                    <c:v>2024</c:v>
                  </c:pt>
                  <c:pt idx="14">
                    <c:v>2025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42000</c:v>
                </c:pt>
                <c:pt idx="1">
                  <c:v>48000</c:v>
                </c:pt>
                <c:pt idx="2">
                  <c:v>55000</c:v>
                </c:pt>
                <c:pt idx="3">
                  <c:v>63000</c:v>
                </c:pt>
                <c:pt idx="4">
                  <c:v>71000</c:v>
                </c:pt>
                <c:pt idx="5">
                  <c:v>79000</c:v>
                </c:pt>
                <c:pt idx="6">
                  <c:v>88000</c:v>
                </c:pt>
                <c:pt idx="7">
                  <c:v>97000</c:v>
                </c:pt>
                <c:pt idx="8">
                  <c:v>108000</c:v>
                </c:pt>
                <c:pt idx="9">
                  <c:v>115000</c:v>
                </c:pt>
                <c:pt idx="10">
                  <c:v>122000</c:v>
                </c:pt>
                <c:pt idx="11">
                  <c:v>131000</c:v>
                </c:pt>
                <c:pt idx="12">
                  <c:v>143000</c:v>
                </c:pt>
                <c:pt idx="13">
                  <c:v>158000</c:v>
                </c:pt>
                <c:pt idx="14">
                  <c:v>172000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Say</c:v>
                </c:pt>
              </c:strCache>
            </c:strRef>
          </c:tx>
          <c:spPr>
            <a:solidFill>
              <a:srgbClr val="E05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A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5A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Hypertension</c:v>
                  </c:pt>
                  <c:pt idx="1">
                    <c:v>Diabetes</c:v>
                  </c:pt>
                  <c:pt idx="2">
                    <c:v>Viral sinusitis</c:v>
                  </c:pt>
                  <c:pt idx="3">
                    <c:v>Acute bronchitis</c:v>
                  </c:pt>
                  <c:pt idx="4">
                    <c:v>Normal pregnancy</c:v>
                  </c:pt>
                  <c:pt idx="5">
                    <c:v>Prediabetes</c:v>
                  </c:pt>
                  <c:pt idx="6">
                    <c:v>Anemia</c:v>
                  </c:pt>
                  <c:pt idx="7">
                    <c:v>Hyperlipidemia</c:v>
                  </c:pt>
                  <c:pt idx="8">
                    <c:v>Osteoarthritis</c:v>
                  </c:pt>
                  <c:pt idx="9">
                    <c:v>Asthma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185000</c:v>
                </c:pt>
                <c:pt idx="1">
                  <c:v>142000</c:v>
                </c:pt>
                <c:pt idx="2">
                  <c:v>98000</c:v>
                </c:pt>
                <c:pt idx="3">
                  <c:v>87000</c:v>
                </c:pt>
                <c:pt idx="4">
                  <c:v>76000</c:v>
                </c:pt>
                <c:pt idx="5">
                  <c:v>65000</c:v>
                </c:pt>
                <c:pt idx="6">
                  <c:v>54000</c:v>
                </c:pt>
                <c:pt idx="7">
                  <c:v>48000</c:v>
                </c:pt>
                <c:pt idx="8">
                  <c:v>43000</c:v>
                </c:pt>
                <c:pt idx="9">
                  <c:v>39000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Pasiyent sayı</c:v>
                </c:pt>
              </c:strCache>
            </c:strRef>
          </c:tx>
          <c:spPr>
            <a:solidFill>
              <a:srgbClr val="74AD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4add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dac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5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7302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Zəif çəki
(&lt;18.5)</c:v>
                  </c:pt>
                  <c:pt idx="1">
                    <c:v>Normal
(18.5-25)</c:v>
                  </c:pt>
                  <c:pt idx="2">
                    <c:v>Artıq çəki
(25-30)</c:v>
                  </c:pt>
                  <c:pt idx="3">
                    <c:v>Obez
(&gt;30)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28400</c:v>
                </c:pt>
                <c:pt idx="2">
                  <c:v>42600</c:v>
                </c:pt>
                <c:pt idx="3">
                  <c:v>58400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Sistol (mmHg)</c:v>
                </c:pt>
              </c:strCache>
            </c:strRef>
          </c:tx>
          <c:spPr>
            <a:solidFill>
              <a:srgbClr val="E05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Pasiyentlər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Pasiyent sayı</c:v>
                </c:pt>
              </c:strCache>
            </c:strRef>
          </c:tx>
          <c:spPr>
            <a:solidFill>
              <a:srgbClr val="0D7C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5A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5A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1-5</c:v>
                  </c:pt>
                  <c:pt idx="1">
                    <c:v>6-20</c:v>
                  </c:pt>
                  <c:pt idx="2">
                    <c:v>21-50</c:v>
                  </c:pt>
                  <c:pt idx="3">
                    <c:v>51-100</c:v>
                  </c:pt>
                  <c:pt idx="4">
                    <c:v>101-200</c:v>
                  </c:pt>
                  <c:pt idx="5">
                    <c:v>200+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18200</c:v>
                </c:pt>
                <c:pt idx="1">
                  <c:v>45600</c:v>
                </c:pt>
                <c:pt idx="2">
                  <c:v>38400</c:v>
                </c:pt>
                <c:pt idx="3">
                  <c:v>19800</c:v>
                </c:pt>
                <c:pt idx="4">
                  <c:v>8400</c:v>
                </c:pt>
                <c:pt idx="5">
                  <c:v>2207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BMI</c:v>
                </c:pt>
              </c:strCache>
            </c:strRef>
          </c:tx>
          <c:spPr>
            <a:solidFill>
              <a:srgbClr val="0D7C8F"/>
            </a:solidFill>
            <a:ln w="25400" cap="flat">
              <a:solidFill>
                <a:srgbClr val="0D7C8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C8F"/>
              </a:solidFill>
              <a:ln w="9525" cap="flat">
                <a:solidFill>
                  <a:srgbClr val="0D7C8F"/>
                </a:solidFill>
                <a:prstDash val="solid"/>
                <a:round/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55</c:v>
                </c:pt>
                <c:pt idx="10">
                  <c:v>60</c:v>
                </c:pt>
                <c:pt idx="11">
                  <c:v>65</c:v>
                </c:pt>
                <c:pt idx="12">
                  <c:v>70</c:v>
                </c:pt>
                <c:pt idx="13">
                  <c:v>75</c:v>
                </c:pt>
                <c:pt idx="14">
                  <c:v>80</c:v>
                </c:pt>
                <c:pt idx="15">
                  <c:v>85</c:v>
                </c:pt>
                <c:pt idx="16">
                  <c:v>90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22.1</c:v>
                </c:pt>
                <c:pt idx="1">
                  <c:v>23.5</c:v>
                </c:pt>
                <c:pt idx="2">
                  <c:v>24.8</c:v>
                </c:pt>
                <c:pt idx="3">
                  <c:v>25.9</c:v>
                </c:pt>
                <c:pt idx="4">
                  <c:v>27.2</c:v>
                </c:pt>
                <c:pt idx="5">
                  <c:v>28.1</c:v>
                </c:pt>
                <c:pt idx="6">
                  <c:v>28.9</c:v>
                </c:pt>
                <c:pt idx="7">
                  <c:v>29.5</c:v>
                </c:pt>
                <c:pt idx="8">
                  <c:v>30.1</c:v>
                </c:pt>
                <c:pt idx="9">
                  <c:v>30.8</c:v>
                </c:pt>
                <c:pt idx="10">
                  <c:v>31.2</c:v>
                </c:pt>
                <c:pt idx="11">
                  <c:v>31.7</c:v>
                </c:pt>
                <c:pt idx="12">
                  <c:v>32.1</c:v>
                </c:pt>
                <c:pt idx="13">
                  <c:v>32.5</c:v>
                </c:pt>
                <c:pt idx="14">
                  <c:v>32.8</c:v>
                </c:pt>
                <c:pt idx="15">
                  <c:v>33.1</c:v>
                </c:pt>
                <c:pt idx="16">
                  <c:v>33.4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DA505  |  CodeAcademy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321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Sintetik Səhiyyə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Məlumatlarının Analizi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2834640"/>
            <a:ext cx="4389120" cy="45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İsrafilzadə Aysu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3493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Yekun Layihə  •  11 May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6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patients.rds  |  encounters.rds  |  observations.rds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Təqdimatın Strukturu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24128"/>
            <a:ext cx="621792" cy="86868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1155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Deskriptiv Təhlil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48132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Pasiyent demoqrafiyası, müraciət trendləri, BMI və qan təzyiqi paylanması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11680"/>
            <a:ext cx="621792" cy="86868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11680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Anomaliyalar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metodu ilə BMI və müraciət sayında normadan kənar dəyərlərin aşkarlanması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99232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99232"/>
            <a:ext cx="621792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99232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Proqnoz və Fərziyyələr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4564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Korrelyasiya analizi, sadə və mürəkkəb xətti reqressiya, LOESS trend proqnozu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86784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86784"/>
            <a:ext cx="621792" cy="8686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986784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40782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Xülasə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4439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Əsas nəticələr, təsdiqlənmiş fərziyyələr və tibbi tövsiyələr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Məlumat Dəsti — Star Schema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788920" cy="3977640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14400"/>
            <a:ext cx="2788920" cy="47548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9144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patients.rds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" y="15087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132,607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" y="19568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sətir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" y="22677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01752" y="26517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" y="2944368"/>
            <a:ext cx="25146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3017520"/>
            <a:ext cx="2651760" cy="1737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Demoqrafik məlumatlar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doğum tarixi, cins, irq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ailə vəziyyəti, ünvan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788920" cy="3977640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14400"/>
            <a:ext cx="2788920" cy="47548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9144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encounters.rds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15087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~1.5M+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46120" y="19568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sətir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2677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46120" y="26517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944368"/>
            <a:ext cx="25146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3017520"/>
            <a:ext cx="2651760" cy="1737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Tibbi müraciətlər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tarix, pasiyent 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diaqnoz kodu, səbəb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44768" y="914400"/>
            <a:ext cx="2788920" cy="3977640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4768" y="914400"/>
            <a:ext cx="278892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0488" y="9144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observations.rds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90488" y="15087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~10M+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90488" y="195681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sətir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0488" y="22677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190488" y="26517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81928" y="2944368"/>
            <a:ext cx="25146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017520"/>
            <a:ext cx="2651760" cy="1737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ölçülər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qan təzyiqi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xolesterin, şəkər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patients.id  →  encounters.patient  →  observations.patient  (Star Schema JOIN)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Deskriptiv Təhlil  —  Cins Paylanması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914400"/>
          <a:ext cx="4754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394960" y="1005840"/>
            <a:ext cx="3474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Əsas Müşahidələr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Cins paylanması</a:t>
            </a:r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demək olar ki bərabərdir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Qadın: ~50.6%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Kişi:  ~49.4%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sintetik məlumatın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balanslaşdırılmış yaradıldığını göstərir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Deskriptiv Təhlil  —  Yaş Paylanması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9144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005840"/>
            <a:ext cx="265176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10424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~47.2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217920" y="14081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yaş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265176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9568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~49.1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217920" y="23225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yaş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2834640"/>
            <a:ext cx="265176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28712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217920" y="32369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3749040"/>
            <a:ext cx="265176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37856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217920" y="4151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Deskriptiv Təhlil  —  İrq Paylanması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8412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Şərh: White irqindən olan pasiyentlər məlumat dəstinin ~59%-ni təşkil edir. Müxtəlif irq qruplarının təmsil olunması datanın müxtəlifliyini göstərir.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Deskriptiv Təhlil  —  İllər üzrə Müraciət Trendi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91440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Şərh: Müraciət sayı illər üzrə ardıcıl artım trendi göstərir. Bu əhalinin yaşlanması və sağlamlıq xidmətlərinə artan tələbatı ilə izah oluna bilər.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Deskriptiv Təhlil  —  Ən Çox Rast Gəlinən Müraciət Səbəbləri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868680"/>
          <a:ext cx="84124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9560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Şərh: Xroniki xəstəliklər (hipertenziya, diabet) ən çox müraciət səbəbidir. Bu profilaktik tibb proqramlarının vacibliyini vurğulayır.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Deskriptiv Təhlil  —  BMI Paylanması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005840"/>
            <a:ext cx="3291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Statistikası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BMI: ~28.4 kg/m²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~27.9 kg/m²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case_when ilə 4 kateqoriya yaradılmışdır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Pasiyentlərin &gt;44%-i obez kateqoriyasındadır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Deskriptiv Təhlil  —  Qan Təzyiqi Boxplot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84124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Sistol Qan Təzyiqi Statistikası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Minimum: ~60 mmHg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(25%): ~111 mmHg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~125 mmHg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(75%): ~141 mmHg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Maksimum: ~200 mmHg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7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mmHg-dən yuxarı → hipertenziya riski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Anomaliyalar  —  IQR Metodu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1143000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32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Metodu Nədir?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hədd = Q1 − 1.5 × IQR     |     Üst hədd = Q3 + 1.5 × IQR     |     Bu həddlərin xaricindəki dəyərlər anomal sayılır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48840"/>
          <a:ext cx="8412480" cy="1828800"/>
        </p:xfrm>
        <a:graphic>
          <a:graphicData uri="http://schemas.openxmlformats.org/drawingml/2006/table">
            <a:tbl>
              <a:tblPr/>
              <a:tblGrid>
                <a:gridCol w="5029200"/>
                <a:gridCol w="3383280"/>
              </a:tblGrid>
              <a:tr h="2612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Göstərici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Dəyər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(25. persentil)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 kg/m²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(75. persentil)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35.8 kg/m²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 kg/m²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hədd (Q1−1.5×IQR)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−6.5 kg/m² → praktiki alt hədd: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Üst hədd (Q3+1.5×IQR)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 kg/m²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 BMI sayı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73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~1,800+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Şərh: Anomal BMI dəyərləri ölçüm xətası, nadir tibbi vəziyyət və ya data keyfiyyəti problemi ola bilər.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Anomaliyalar  —  Pasiyent başına Müraciət Sayı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00584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Müraciət Anomaliyaları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 hədd: &gt;üst IQR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 pasiyentlər: ~10,600+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müraciət sayı: 500+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7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Qırmızı sütunlar anomal qrupları göstərir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pasiyentlər xroniki xəstəlik daşıyıcısı ola bilər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Proqnoz  —  Korrelyasiya Analizi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960120"/>
            <a:ext cx="283464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005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325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0.18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03504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Zəif müsbət əlaqə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2148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Şərh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0.18 → zəif müsbət korrelyasiya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 artdıqca BMI bir qədər artır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BMI-yə başqa amillər (qidalanma, genetika) daha güclü təsir edir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Proqnoz  —  Xətti Reqressiya Analizi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3977640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Sadə Xətti Reqressiya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3533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~ Yaş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1783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~0.032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Düz. R²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331720"/>
            <a:ext cx="1783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~0.031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İntercept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~25.8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 əmsalı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520440"/>
            <a:ext cx="1783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~0.054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p-dəyər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4114800"/>
            <a:ext cx="1783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4160520" cy="3977640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914400"/>
            <a:ext cx="4160520" cy="38404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914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Mürəkkəb Xətti Reqressiya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135331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~ Yaş + Cins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~0.038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Düz. R²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2331720"/>
            <a:ext cx="1874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~0.037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2926080"/>
            <a:ext cx="2011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İntercept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2926080"/>
            <a:ext cx="1874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~24.9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3520440"/>
            <a:ext cx="2011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 əmsalı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12280" y="3520440"/>
            <a:ext cx="1874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~0.052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00600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Cins əmsalı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4114800"/>
            <a:ext cx="1874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040" y="4919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Şərh: Mürəkkəb modeldə cinsin əlavə edilməsi R²-ni artırır. Hər iki model statistik olaraq mənalıdır (p &lt; 0.001), lakin aşağı R² BMI-yə başqa amillərin güclü təsir etdiyini göstərir.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7724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Proqnoz  —  Fərziyyə Nəticələri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1207008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548640" cy="1207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32688"/>
            <a:ext cx="548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0241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Yaşlı pasiyentlər daha çox müraciət edir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005840"/>
            <a:ext cx="22402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005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TƏSDİQLƏNDİ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408176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Yaşlı (70+) qrupda orta müraciət sayı digər qruplara nisbətən statistik olaraq yüksəkdir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76856"/>
            <a:ext cx="8503920" cy="1207008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76856"/>
            <a:ext cx="548640" cy="1207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76856"/>
            <a:ext cx="548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36829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Obez pasiyentlər daha tez-tez müraciət edir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350008"/>
            <a:ext cx="22402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35000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TƏSDİQLƏNDİ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752344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kateqoriyası artdıqca orta müraciət sayı da artır — obez qrupu ən yüksək müraciət tezliyinə malikdir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621024"/>
            <a:ext cx="8503920" cy="1207008"/>
          </a:xfrm>
          <a:prstGeom prst="rect">
            <a:avLst/>
          </a:prstGeom>
          <a:solidFill>
            <a:srgbClr val="F1F5F9"/>
          </a:solidFill>
          <a:ln w="6350">
            <a:solidFill>
              <a:srgbClr val="E0E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621024"/>
            <a:ext cx="548640" cy="1207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548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1246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Müraciət sayı ümumi olaraq artım trendi göstərir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3694176"/>
            <a:ext cx="22402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69417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TƏSDİQLƏNDİ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0965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LOESS trend analizi 2011-2025-ci illər arasında ardıcıl artım tendensiyasını göstərir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Xülasə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6400800" cy="4572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132,607 pasiyent, ~1.5M müraciət, ~10M klinik ölçü analiz edildi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Pasiyentlərin &gt;44%-i obez kateqoriyasındadır — piylənmə ciddi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214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Xroniki xəstəliklər (hipertenziya, diabet) ən çox müraciət sə­bə­bidir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79776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Yaş artdıqca müraciət sayı da artır — yaşlı pasiyentlər prioritet qrupdur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43814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Reqressiya modeli BMI-nin yaşla zəif müsbət əlaqəsini təsdiqlədi (r=0.18)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09651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Hər 3 fərziyyə məlumatlar tərəfindən TƏSDİQLƏNDİ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Tövsiyə: Obez + çox müraciətli pasiyentlər üçün profilaktik proqramların tətbiqi sağlamlıq sisteminin yükünü azalda bilər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2194560"/>
            <a:ext cx="8979408" cy="6400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Diqqətinizə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görə təşəkkür!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" y="2423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İsrafilzadə Aysu  |  DA505  |  CodeAcademy  | 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2971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patients.rds  |  encounters.rds  |  observations.rds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•  data.table  •  ggplot2  •  Linear Regression  •  IQR Anomaly Detection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DA505 Yekun Layihe</dc:title>
  <dc:subject>PptxGenJS Presentation</dc:subject>
  <dc:creator>Aysu Israfilzade</dc:creator>
  <cp:lastModifiedBy>Aysu Israfilzade</cp:lastModifiedBy>
  <cp:revision>1</cp:revision>
  <dcterms:created xsi:type="dcterms:W3CDTF">2026-05-10T09:34:07Z</dcterms:created>
  <dcterms:modified xsi:type="dcterms:W3CDTF">2026-05-10T09:34:07Z</dcterms:modified>
</cp:coreProperties>
</file>